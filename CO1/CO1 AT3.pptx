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7dd8a759fde4543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7dd8a759fde454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73152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201168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74320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84048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48463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149840" y="1645920"/>
            <a:ext cx="457200" cy="4114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0" y="3108960"/>
            <a:ext cx="1005840" cy="9144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2971800"/>
            <a:ext cx="457200" cy="2286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692640" y="4389120"/>
            <a:ext cx="1097280" cy="6400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777240"/>
            <a:ext cx="69494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Aptos"/>
              </a:defRPr>
            </a:pPr>
            <a:r>
              <a:t>TECHNICAL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7589520" cy="1645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Distributed Operating</a:t>
            </a:r>
            <a:br/>
            <a: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310128"/>
            <a:ext cx="73152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Aptos"/>
              </a:defRPr>
            </a:pPr>
            <a:r>
              <a:t>Types • Architecture • Communication &amp; Coordination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72000"/>
            <a:ext cx="4754880" cy="1051560"/>
          </a:xfrm>
          <a:prstGeom prst="roundRect">
            <a:avLst/>
          </a:prstGeom>
          <a:solidFill>
            <a:srgbClr val="1E3152"/>
          </a:solidFill>
          <a:ln>
            <a:solidFill>
              <a:srgbClr val="33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36592"/>
            <a:ext cx="42976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Name: V. Tharshith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38928"/>
            <a:ext cx="4297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Aptos"/>
              </a:defRPr>
            </a:pPr>
            <a:r>
              <a:t>Reg. No.: 1925260249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Aptos"/>
              </a:defRPr>
            </a:pPr>
            <a:r>
              <a:t>QUESTION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12240"/>
                </a:solidFill>
                <a:latin typeface="Aptos"/>
              </a:defRPr>
            </a:pPr>
            <a:r>
              <a:t>1. Type of OS and Its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A distributed operating system coordinates computers connected across multiple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87451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28216"/>
            <a:ext cx="319125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"/>
              </a:defRPr>
            </a:pPr>
            <a:r>
              <a:t>Distributed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30552"/>
            <a:ext cx="3191256" cy="12527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1E293B"/>
                </a:solidFill>
                <a:latin typeface="Aptos"/>
              </a:defRPr>
            </a:pPr>
            <a:r>
              <a:t>Manages a group of networked computers and presents their resources as one integrated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28216"/>
            <a:ext cx="319125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"/>
              </a:defRPr>
            </a:pPr>
            <a:r>
              <a:t>Network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30552"/>
            <a:ext cx="3191256" cy="12527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1E293B"/>
                </a:solidFill>
                <a:latin typeface="Aptos"/>
              </a:defRPr>
            </a:pPr>
            <a:r>
              <a:t>Connects independent computers and provides services such as file sharing, remote login and printing.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520440" cy="1874519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28216"/>
            <a:ext cx="319125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Cloud / Cluster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30552"/>
            <a:ext cx="3191256" cy="12527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1E293B"/>
                </a:solidFill>
                <a:latin typeface="Aptos"/>
              </a:defRPr>
            </a:pPr>
            <a:r>
              <a:t>Coordinates pooled servers or virtual resources to support scalable applications and workloads.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86200"/>
            <a:ext cx="4114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12240"/>
                </a:solidFill>
                <a:latin typeface="Aptos"/>
              </a:defRPr>
            </a:pPr>
            <a:r>
              <a:t>Key characteristics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15968"/>
            <a:ext cx="10881360" cy="19659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Resource sharing: CPU, storage, files and devices can be shared.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Transparency: hides many details of where resources are located.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Scalability: new computers can be added as demand grows.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Fault tolerance: services may continue when a node fails.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Concurrency and communication: many processes work together.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Security: authentication, permissions and protected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12240"/>
                </a:solidFill>
                <a:latin typeface="Aptos"/>
              </a:defRPr>
            </a:pPr>
            <a:r>
              <a:t>2. Architecture of a Distributed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A typical system combines local nodes, middleware and communication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00200"/>
            <a:ext cx="1014984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673352"/>
            <a:ext cx="2926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ptos"/>
              </a:defRPr>
            </a:pPr>
            <a:r>
              <a:t>APPLICATIONS &amp;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73352"/>
            <a:ext cx="6812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Applications access shared services through common interfaces.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423160"/>
            <a:ext cx="10149840" cy="658368"/>
          </a:xfrm>
          <a:prstGeom prst="roundRect">
            <a:avLst/>
          </a:prstGeom>
          <a:solidFill>
            <a:srgbClr val="CCFBF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496312"/>
            <a:ext cx="2926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ptos"/>
              </a:defRPr>
            </a:pPr>
            <a:r>
              <a:t>MIDDLEWARE / DISTRIBUTED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96312"/>
            <a:ext cx="6812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Naming, directory, authentication, remote invocation and coordination.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246120"/>
            <a:ext cx="10149840" cy="658368"/>
          </a:xfrm>
          <a:prstGeom prst="roundRect">
            <a:avLst/>
          </a:prstGeom>
          <a:solidFill>
            <a:srgbClr val="E2E8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319272"/>
            <a:ext cx="2926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112240"/>
                </a:solidFill>
                <a:latin typeface="Aptos"/>
              </a:defRPr>
            </a:pPr>
            <a:r>
              <a:t>LOCAL OS ON EACH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319272"/>
            <a:ext cx="6812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Process management, memory, files, device drivers and local scheduling.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069080"/>
            <a:ext cx="10149840" cy="658368"/>
          </a:xfrm>
          <a:prstGeom prst="roundRect">
            <a:avLst/>
          </a:prstGeom>
          <a:solidFill>
            <a:srgbClr val="FED7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42232"/>
            <a:ext cx="2926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Aptos"/>
              </a:defRPr>
            </a:pPr>
            <a:r>
              <a:t>NETWORK &amp;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142232"/>
            <a:ext cx="6812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LAN/WAN, TCP/IP, messaging and secure links between locations.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7492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Node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507492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Node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507492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Node 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394960"/>
            <a:ext cx="1554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449824"/>
            <a:ext cx="1463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CPU • Memory</a:t>
            </a:r>
            <a:br/>
            <a:r>
              <a:t>Local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5394960"/>
            <a:ext cx="1554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5449824"/>
            <a:ext cx="1463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CPU • Memory</a:t>
            </a:r>
            <a:br/>
            <a:r>
              <a:t>Local storage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5394960"/>
            <a:ext cx="1554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5449824"/>
            <a:ext cx="1463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CPU • Memory</a:t>
            </a:r>
            <a:br/>
            <a:r>
              <a:t>Local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080760"/>
            <a:ext cx="10149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ptos"/>
              </a:defRPr>
            </a:pPr>
            <a:r>
              <a:t>Nodes cooperate over the network; each node may be in a different office or data centre.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12240"/>
                </a:solidFill>
                <a:latin typeface="Aptos"/>
              </a:defRPr>
            </a:pPr>
            <a:r>
              <a:t>3. System Calls for Communication &amp;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System calls let programs request OS services for exchanging data and synchronizing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463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82495"/>
            <a:ext cx="319125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"/>
              </a:defRPr>
            </a:pPr>
            <a:r>
              <a:t>Sockets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84831"/>
            <a:ext cx="3191256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socket(), bind(), listen(), accept(), connect(), send(), recv()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1463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82495"/>
            <a:ext cx="319125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Remote Procedure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084831"/>
            <a:ext cx="3191256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RPC frameworks let a process request a procedure on another machine as if calling a local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520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82495"/>
            <a:ext cx="319125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"/>
              </a:defRPr>
            </a:pPr>
            <a:r>
              <a:t>Message Passing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84831"/>
            <a:ext cx="3191256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send()/receive() or message-queue APIs transfer messages between distributed processes.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12240"/>
                </a:solidFill>
                <a:latin typeface="Aptos"/>
              </a:defRPr>
            </a:pPr>
            <a:r>
              <a:t>Coordination and synchronization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10881360" cy="19202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Locks and semaphores: protect shared resources and prevent conflicting updates.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Wait / signal and condition variables: coordinate process execution.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Shared files and distributed storage calls: support common data access.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Clock and membership services: help nodes agree on timing and active participants.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Failure handling: timeouts, retries and status checks help detect communication problems.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989320"/>
            <a:ext cx="10607040" cy="43891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062472"/>
            <a:ext cx="10287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9A3412"/>
                </a:solidFill>
                <a:latin typeface="Aptos"/>
              </a:defRPr>
            </a:pPr>
            <a:r>
              <a:t>Note: Exact system-call names vary by operating system; RPC and distributed coordination are often provided by libraries or middleware.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12240"/>
                </a:solidFill>
                <a:latin typeface="Aptos"/>
              </a:defRPr>
            </a:pPr>
            <a:r>
              <a:t>How Communication and Coordination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t>Example: a user in one office requests data stored at another 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187451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65960"/>
            <a:ext cx="56692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783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12240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27248"/>
            <a:ext cx="178308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Application calls a socket or remote-service API.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2157984"/>
            <a:ext cx="1600201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66160" y="1874519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56692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51760"/>
            <a:ext cx="1783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12240"/>
                </a:solidFill>
                <a:latin typeface="Aptos"/>
              </a:defRPr>
            </a:pPr>
            <a:r>
              <a:t>Send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27248"/>
            <a:ext cx="178308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Data travels through the network to the target node.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2157984"/>
            <a:ext cx="1600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97880" y="187451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56692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651760"/>
            <a:ext cx="1783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12240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27248"/>
            <a:ext cx="178308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The remote OS and service validate and handle the request.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37960" y="2157984"/>
            <a:ext cx="1600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0" y="1874519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65960"/>
            <a:ext cx="56692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51760"/>
            <a:ext cx="1783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12240"/>
                </a:solidFill>
                <a:latin typeface="Aptos"/>
              </a:defRPr>
            </a:pPr>
            <a:r>
              <a:t>Coordinate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127248"/>
            <a:ext cx="178308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Locks, acknowledgements or transactions protect shared data.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69680" y="2157984"/>
            <a:ext cx="1600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561320" y="187451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1965960"/>
            <a:ext cx="56692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651760"/>
            <a:ext cx="1783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12240"/>
                </a:solidFill>
                <a:latin typeface="Aptos"/>
              </a:defRPr>
            </a:pPr>
            <a:r>
              <a:t>Reply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127248"/>
            <a:ext cx="178308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The result is returned to the requesting application.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09160"/>
            <a:ext cx="484632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37176"/>
            <a:ext cx="451713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239512"/>
            <a:ext cx="45171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Resource sharing, scalability, availability and collaboration across locations.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709160"/>
            <a:ext cx="4846320" cy="10058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4837176"/>
            <a:ext cx="451713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Challenges to manage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239512"/>
            <a:ext cx="45171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Network delays, node failures, security, consistency and synchronization.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44768"/>
            <a:ext cx="10789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/>
        </p:nvSpPr>
        <p:spPr>
          <a:xfrm>
            <a:off x="0" y="2724655"/>
            <a:ext cx="12191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-152400"/>
            <a:ext cx="12505700" cy="701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